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ovelace" charset="1" panose="00000500000000000000"/>
      <p:regular r:id="rId18"/>
    </p:embeddedFont>
    <p:embeddedFont>
      <p:font typeface="TT Hoves Bold" charset="1" panose="02000003020000060003"/>
      <p:regular r:id="rId19"/>
    </p:embeddedFont>
    <p:embeddedFont>
      <p:font typeface="TT Hoves" charset="1" panose="02000003020000060003"/>
      <p:regular r:id="rId20"/>
    </p:embeddedFont>
    <p:embeddedFont>
      <p:font typeface="Lovelace Bold" charset="1" panose="00000700000000000000"/>
      <p:regular r:id="rId21"/>
    </p:embeddedFont>
    <p:embeddedFont>
      <p:font typeface="Lovelace Italic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40556" y="7889271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2" y="0"/>
                </a:lnTo>
                <a:lnTo>
                  <a:pt x="8338512" y="8338512"/>
                </a:lnTo>
                <a:lnTo>
                  <a:pt x="0" y="833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90770" y="-5871599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3" y="0"/>
                </a:lnTo>
                <a:lnTo>
                  <a:pt x="8338513" y="8338512"/>
                </a:lnTo>
                <a:lnTo>
                  <a:pt x="0" y="833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97378" y="2849100"/>
            <a:ext cx="12693244" cy="221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2"/>
              </a:lnSpc>
            </a:pPr>
            <a:r>
              <a:rPr lang="en-US" sz="9143" spc="-566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 GLOBAL FACEBOOK </a:t>
            </a:r>
          </a:p>
          <a:p>
            <a:pPr algn="ctr">
              <a:lnSpc>
                <a:spcPts val="11338"/>
              </a:lnSpc>
            </a:pPr>
            <a:r>
              <a:rPr lang="en-US" sz="9143" spc="-566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USAGE ANALYSIS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096575" y="1028700"/>
            <a:ext cx="1105497" cy="1105497"/>
          </a:xfrm>
          <a:custGeom>
            <a:avLst/>
            <a:gdLst/>
            <a:ahLst/>
            <a:cxnLst/>
            <a:rect r="r" b="b" t="t" l="l"/>
            <a:pathLst>
              <a:path h="1105497" w="1105497">
                <a:moveTo>
                  <a:pt x="0" y="0"/>
                </a:moveTo>
                <a:lnTo>
                  <a:pt x="1105496" y="0"/>
                </a:lnTo>
                <a:lnTo>
                  <a:pt x="1105496" y="1105497"/>
                </a:lnTo>
                <a:lnTo>
                  <a:pt x="0" y="110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9398" y="1028700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0" y="0"/>
                </a:moveTo>
                <a:lnTo>
                  <a:pt x="5277354" y="0"/>
                </a:lnTo>
                <a:lnTo>
                  <a:pt x="5277354" y="352918"/>
                </a:lnTo>
                <a:lnTo>
                  <a:pt x="0" y="352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77498" y="7166190"/>
            <a:ext cx="9206418" cy="126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4"/>
              </a:lnSpc>
            </a:pPr>
            <a:r>
              <a:rPr lang="en-US" b="true" sz="3167" spc="-145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Presented by Camila Hernandez</a:t>
            </a:r>
          </a:p>
          <a:p>
            <a:pPr algn="ctr">
              <a:lnSpc>
                <a:spcPts val="5194"/>
              </a:lnSpc>
            </a:pPr>
            <a:r>
              <a:rPr lang="en-US" b="true" sz="3167" spc="-145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COP 2073 - Foundations of Data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8766" y="7822596"/>
            <a:ext cx="3729190" cy="60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77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3010646" y="8905382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5277354" y="0"/>
                </a:moveTo>
                <a:lnTo>
                  <a:pt x="0" y="0"/>
                </a:lnTo>
                <a:lnTo>
                  <a:pt x="0" y="352918"/>
                </a:lnTo>
                <a:lnTo>
                  <a:pt x="5277354" y="352918"/>
                </a:lnTo>
                <a:lnTo>
                  <a:pt x="52773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77660" y="4623468"/>
            <a:ext cx="9332679" cy="165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  <a:spcBef>
                <a:spcPct val="0"/>
              </a:spcBef>
            </a:pPr>
          </a:p>
          <a:p>
            <a:pPr algn="ctr">
              <a:lnSpc>
                <a:spcPts val="4441"/>
              </a:lnSpc>
              <a:spcBef>
                <a:spcPct val="0"/>
              </a:spcBef>
            </a:pPr>
            <a:r>
              <a:rPr lang="en-US" b="true" sz="3172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AN EXPLORATION OF FACEBOOK USER TRENDS </a:t>
            </a:r>
          </a:p>
          <a:p>
            <a:pPr algn="ctr">
              <a:lnSpc>
                <a:spcPts val="44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84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40658" y="-4518440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3" y="0"/>
                </a:lnTo>
                <a:lnTo>
                  <a:pt x="8338513" y="8338512"/>
                </a:lnTo>
                <a:lnTo>
                  <a:pt x="0" y="833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169256" y="8220488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2" y="0"/>
                </a:lnTo>
                <a:lnTo>
                  <a:pt x="8338512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74012" y="6030891"/>
            <a:ext cx="10826329" cy="2189596"/>
          </a:xfrm>
          <a:custGeom>
            <a:avLst/>
            <a:gdLst/>
            <a:ahLst/>
            <a:cxnLst/>
            <a:rect r="r" b="b" t="t" l="l"/>
            <a:pathLst>
              <a:path h="2189596" w="10826329">
                <a:moveTo>
                  <a:pt x="0" y="0"/>
                </a:moveTo>
                <a:lnTo>
                  <a:pt x="10826329" y="0"/>
                </a:lnTo>
                <a:lnTo>
                  <a:pt x="10826329" y="2189597"/>
                </a:lnTo>
                <a:lnTo>
                  <a:pt x="0" y="21895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26" t="0" r="0" b="-1057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67040" y="782546"/>
            <a:ext cx="8367751" cy="76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9"/>
              </a:lnSpc>
            </a:pPr>
            <a:r>
              <a:rPr lang="en-US" sz="6909" spc="-428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ABOUT THE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9889" y="2379561"/>
            <a:ext cx="11055327" cy="306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4062" indent="-327031" lvl="1">
              <a:lnSpc>
                <a:spcPts val="4089"/>
              </a:lnSpc>
              <a:buFont typeface="Arial"/>
              <a:buChar char="•"/>
            </a:pPr>
            <a:r>
              <a:rPr lang="en-US" b="true" sz="3029" spc="-118">
                <a:solidFill>
                  <a:srgbClr val="ECEBE4"/>
                </a:solidFill>
                <a:latin typeface="TT Hoves Bold"/>
                <a:ea typeface="TT Hoves Bold"/>
                <a:cs typeface="TT Hoves Bold"/>
                <a:sym typeface="TT Hoves Bold"/>
              </a:rPr>
              <a:t>Nam</a:t>
            </a:r>
            <a:r>
              <a:rPr lang="en-US" b="true" sz="3029" spc="-118" strike="noStrike" u="none">
                <a:solidFill>
                  <a:srgbClr val="ECEBE4"/>
                </a:solidFill>
                <a:latin typeface="TT Hoves Bold"/>
                <a:ea typeface="TT Hoves Bold"/>
                <a:cs typeface="TT Hoves Bold"/>
                <a:sym typeface="TT Hoves Bold"/>
              </a:rPr>
              <a:t>e: </a:t>
            </a: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This column contains the names of 126 different countries  </a:t>
            </a:r>
          </a:p>
          <a:p>
            <a:pPr algn="just" marL="654062" indent="-327031" lvl="1">
              <a:lnSpc>
                <a:spcPts val="4089"/>
              </a:lnSpc>
              <a:buFont typeface="Arial"/>
              <a:buChar char="•"/>
            </a:pPr>
            <a:r>
              <a:rPr lang="en-US" b="true" sz="3029" spc="-118" strike="noStrike" u="none">
                <a:solidFill>
                  <a:srgbClr val="ECEBE4"/>
                </a:solidFill>
                <a:latin typeface="TT Hoves Bold"/>
                <a:ea typeface="TT Hoves Bold"/>
                <a:cs typeface="TT Hoves Bold"/>
                <a:sym typeface="TT Hoves Bold"/>
              </a:rPr>
              <a:t>Facebook_Users</a:t>
            </a:r>
            <a:r>
              <a:rPr lang="en-US" b="true" sz="3029" spc="-118" strike="noStrike" u="none">
                <a:solidFill>
                  <a:srgbClr val="ECEBE4"/>
                </a:solidFill>
                <a:latin typeface="TT Hoves Bold"/>
                <a:ea typeface="TT Hoves Bold"/>
                <a:cs typeface="TT Hoves Bold"/>
                <a:sym typeface="TT Hoves Bold"/>
              </a:rPr>
              <a:t>:  </a:t>
            </a: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Number of Facebook users in each country </a:t>
            </a:r>
          </a:p>
          <a:p>
            <a:pPr algn="just" marL="654062" indent="-327031" lvl="1">
              <a:lnSpc>
                <a:spcPts val="4089"/>
              </a:lnSpc>
              <a:buFont typeface="Arial"/>
              <a:buChar char="•"/>
            </a:pPr>
            <a:r>
              <a:rPr lang="en-US" b="true" sz="3029" spc="-118" strike="noStrike" u="none">
                <a:solidFill>
                  <a:srgbClr val="ECEBE4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UserPercentage</a:t>
            </a:r>
            <a:r>
              <a:rPr lang="en-US" b="true" sz="3029" spc="-118" strike="noStrike" u="none">
                <a:solidFill>
                  <a:srgbClr val="ECEBE4"/>
                </a:solidFill>
                <a:latin typeface="TT Hoves Bold"/>
                <a:ea typeface="TT Hoves Bold"/>
                <a:cs typeface="TT Hoves Bold"/>
                <a:sym typeface="TT Hoves Bold"/>
              </a:rPr>
              <a:t>:</a:t>
            </a: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Percentage of the population using Facebook </a:t>
            </a:r>
          </a:p>
          <a:p>
            <a:pPr algn="just" marL="654062" indent="-327031" lvl="1">
              <a:lnSpc>
                <a:spcPts val="4089"/>
              </a:lnSpc>
              <a:buFont typeface="Arial"/>
              <a:buChar char="•"/>
            </a:pPr>
            <a:r>
              <a:rPr lang="en-US" b="true" sz="3029" spc="-118" strike="noStrike" u="none">
                <a:solidFill>
                  <a:srgbClr val="ECEBE4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Date_of_Data: </a:t>
            </a: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Date when data was collected </a:t>
            </a:r>
          </a:p>
          <a:p>
            <a:pPr algn="just" marL="654062" indent="-327031" lvl="1">
              <a:lnSpc>
                <a:spcPts val="4089"/>
              </a:lnSpc>
              <a:buFont typeface="Arial"/>
              <a:buChar char="•"/>
            </a:pPr>
            <a:r>
              <a:rPr lang="en-US" b="true" sz="3029" spc="-118" strike="noStrike" u="none">
                <a:solidFill>
                  <a:srgbClr val="ECEBE4"/>
                </a:solidFill>
                <a:latin typeface="TT Hoves Bold"/>
                <a:ea typeface="TT Hoves Bold"/>
                <a:cs typeface="TT Hoves Bold"/>
                <a:sym typeface="TT Hoves Bold"/>
              </a:rPr>
              <a:t>Population:</a:t>
            </a: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Total population of each country</a:t>
            </a:r>
          </a:p>
          <a:p>
            <a:pPr algn="just" marL="0" indent="0" lvl="0">
              <a:lnSpc>
                <a:spcPts val="408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805451"/>
            <a:ext cx="5917552" cy="54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sz="4885" spc="-302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Data Columns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9889" y="6532452"/>
            <a:ext cx="11055327" cy="255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4062" indent="-327031" lvl="1">
              <a:lnSpc>
                <a:spcPts val="4089"/>
              </a:lnSpc>
              <a:buFont typeface="Arial"/>
              <a:buChar char="•"/>
            </a:pPr>
            <a:r>
              <a:rPr lang="en-US" sz="3029" spc="-118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emoved M/K from </a:t>
            </a: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Users</a:t>
            </a:r>
          </a:p>
          <a:p>
            <a:pPr algn="just" marL="654062" indent="-327031" lvl="1">
              <a:lnSpc>
                <a:spcPts val="4089"/>
              </a:lnSpc>
              <a:buFont typeface="Arial"/>
              <a:buChar char="•"/>
            </a:pP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emoved % from </a:t>
            </a: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UserPercentage</a:t>
            </a:r>
          </a:p>
          <a:p>
            <a:pPr algn="just" marL="654062" indent="-327031" lvl="1">
              <a:lnSpc>
                <a:spcPts val="4089"/>
              </a:lnSpc>
              <a:buFont typeface="Arial"/>
              <a:buChar char="•"/>
            </a:pP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Cl</a:t>
            </a: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eaned Population (no commas)</a:t>
            </a:r>
          </a:p>
          <a:p>
            <a:pPr algn="just" marL="654062" indent="-327031" lvl="1">
              <a:lnSpc>
                <a:spcPts val="4089"/>
              </a:lnSpc>
              <a:buFont typeface="Arial"/>
              <a:buChar char="•"/>
            </a:pPr>
            <a:r>
              <a:rPr lang="en-US" sz="3029" spc="-118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Added a Continent column</a:t>
            </a:r>
          </a:p>
          <a:p>
            <a:pPr algn="just" marL="0" indent="0" lvl="0">
              <a:lnSpc>
                <a:spcPts val="408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5851973"/>
            <a:ext cx="5917552" cy="54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1"/>
              </a:lnSpc>
            </a:pPr>
            <a:r>
              <a:rPr lang="en-US" sz="4885" spc="-302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Data Cleaning: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6577" y="9314815"/>
            <a:ext cx="6268396" cy="419193"/>
          </a:xfrm>
          <a:custGeom>
            <a:avLst/>
            <a:gdLst/>
            <a:ahLst/>
            <a:cxnLst/>
            <a:rect r="r" b="b" t="t" l="l"/>
            <a:pathLst>
              <a:path h="419193" w="6268396">
                <a:moveTo>
                  <a:pt x="0" y="0"/>
                </a:moveTo>
                <a:lnTo>
                  <a:pt x="6268396" y="0"/>
                </a:lnTo>
                <a:lnTo>
                  <a:pt x="6268396" y="419193"/>
                </a:lnTo>
                <a:lnTo>
                  <a:pt x="0" y="419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945053" y="685480"/>
            <a:ext cx="6342947" cy="424178"/>
          </a:xfrm>
          <a:custGeom>
            <a:avLst/>
            <a:gdLst/>
            <a:ahLst/>
            <a:cxnLst/>
            <a:rect r="r" b="b" t="t" l="l"/>
            <a:pathLst>
              <a:path h="424178" w="6342947">
                <a:moveTo>
                  <a:pt x="6342947" y="0"/>
                </a:moveTo>
                <a:lnTo>
                  <a:pt x="0" y="0"/>
                </a:lnTo>
                <a:lnTo>
                  <a:pt x="0" y="424179"/>
                </a:lnTo>
                <a:lnTo>
                  <a:pt x="6342947" y="424179"/>
                </a:lnTo>
                <a:lnTo>
                  <a:pt x="63429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914670"/>
            <a:ext cx="6990443" cy="3355217"/>
          </a:xfrm>
          <a:custGeom>
            <a:avLst/>
            <a:gdLst/>
            <a:ahLst/>
            <a:cxnLst/>
            <a:rect r="r" b="b" t="t" l="l"/>
            <a:pathLst>
              <a:path h="3355217" w="6990443">
                <a:moveTo>
                  <a:pt x="0" y="0"/>
                </a:moveTo>
                <a:lnTo>
                  <a:pt x="6990443" y="0"/>
                </a:lnTo>
                <a:lnTo>
                  <a:pt x="6990443" y="3355217"/>
                </a:lnTo>
                <a:lnTo>
                  <a:pt x="0" y="33552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2" r="0" b="-290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8566" y="1914670"/>
            <a:ext cx="7234993" cy="3355217"/>
          </a:xfrm>
          <a:custGeom>
            <a:avLst/>
            <a:gdLst/>
            <a:ahLst/>
            <a:cxnLst/>
            <a:rect r="r" b="b" t="t" l="l"/>
            <a:pathLst>
              <a:path h="3355217" w="7234993">
                <a:moveTo>
                  <a:pt x="0" y="0"/>
                </a:moveTo>
                <a:lnTo>
                  <a:pt x="7234993" y="0"/>
                </a:lnTo>
                <a:lnTo>
                  <a:pt x="7234993" y="3355217"/>
                </a:lnTo>
                <a:lnTo>
                  <a:pt x="0" y="3355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32" t="-6821" r="-11987" b="-991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33425" y="5570270"/>
            <a:ext cx="7497589" cy="3444163"/>
          </a:xfrm>
          <a:custGeom>
            <a:avLst/>
            <a:gdLst/>
            <a:ahLst/>
            <a:cxnLst/>
            <a:rect r="r" b="b" t="t" l="l"/>
            <a:pathLst>
              <a:path h="3444163" w="7497589">
                <a:moveTo>
                  <a:pt x="0" y="0"/>
                </a:moveTo>
                <a:lnTo>
                  <a:pt x="7497589" y="0"/>
                </a:lnTo>
                <a:lnTo>
                  <a:pt x="7497589" y="3444163"/>
                </a:lnTo>
                <a:lnTo>
                  <a:pt x="0" y="344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124" t="-4687" r="-1831" b="-1294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296577" y="804111"/>
            <a:ext cx="8721918" cy="68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8"/>
              </a:lnSpc>
            </a:pPr>
            <a:r>
              <a:rPr lang="en-US" sz="6100" spc="-378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SUMMARY STATS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1900" y="9431036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5" y="0"/>
                </a:lnTo>
                <a:lnTo>
                  <a:pt x="1298615" y="668196"/>
                </a:lnTo>
                <a:lnTo>
                  <a:pt x="0" y="6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9765134"/>
            <a:ext cx="9301208" cy="0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9415188" y="1028700"/>
            <a:ext cx="9791970" cy="0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62225" y="1983992"/>
            <a:ext cx="10177921" cy="5930728"/>
          </a:xfrm>
          <a:custGeom>
            <a:avLst/>
            <a:gdLst/>
            <a:ahLst/>
            <a:cxnLst/>
            <a:rect r="r" b="b" t="t" l="l"/>
            <a:pathLst>
              <a:path h="5930728" w="10177921">
                <a:moveTo>
                  <a:pt x="0" y="0"/>
                </a:moveTo>
                <a:lnTo>
                  <a:pt x="10177921" y="0"/>
                </a:lnTo>
                <a:lnTo>
                  <a:pt x="10177921" y="5930727"/>
                </a:lnTo>
                <a:lnTo>
                  <a:pt x="0" y="5930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27" t="-2653" r="-627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913" y="746895"/>
            <a:ext cx="7481161" cy="69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</a:pPr>
            <a:r>
              <a:rPr lang="en-US" sz="6176" spc="-382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SCATTERPLOTS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58643" y="2324656"/>
            <a:ext cx="6652757" cy="5590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41"/>
              </a:lnSpc>
            </a:pPr>
          </a:p>
          <a:p>
            <a:pPr algn="just" marL="646302" indent="-323151" lvl="1">
              <a:lnSpc>
                <a:spcPts val="4041"/>
              </a:lnSpc>
              <a:buFont typeface="Arial"/>
              <a:buChar char="•"/>
            </a:pPr>
            <a:r>
              <a:rPr lang="en-US" b="true" sz="2993" spc="-116" strike="noStrike" u="none">
                <a:solidFill>
                  <a:srgbClr val="ECEBE4"/>
                </a:solidFill>
                <a:latin typeface="TT Hoves Bold"/>
                <a:ea typeface="TT Hoves Bold"/>
                <a:cs typeface="TT Hoves Bold"/>
                <a:sym typeface="TT Hoves Bold"/>
              </a:rPr>
              <a:t>Positive tr</a:t>
            </a:r>
            <a:r>
              <a:rPr lang="en-US" b="true" sz="2993" spc="-116" strike="noStrike" u="none">
                <a:solidFill>
                  <a:srgbClr val="ECEBE4"/>
                </a:solidFill>
                <a:latin typeface="TT Hoves Bold"/>
                <a:ea typeface="TT Hoves Bold"/>
                <a:cs typeface="TT Hoves Bold"/>
                <a:sym typeface="TT Hoves Bold"/>
              </a:rPr>
              <a:t>end: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countries with larger populations generally have more Users</a:t>
            </a:r>
          </a:p>
          <a:p>
            <a:pPr algn="just">
              <a:lnSpc>
                <a:spcPts val="4041"/>
              </a:lnSpc>
            </a:pPr>
          </a:p>
          <a:p>
            <a:pPr algn="just" marL="646302" indent="-323151" lvl="1">
              <a:lnSpc>
                <a:spcPts val="4041"/>
              </a:lnSpc>
              <a:buFont typeface="Arial"/>
              <a:buChar char="•"/>
            </a:pP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Outliers can be seen aroun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d 25–50 million population, ex., Russia has fewer users than expected</a:t>
            </a:r>
          </a:p>
          <a:p>
            <a:pPr algn="just">
              <a:lnSpc>
                <a:spcPts val="4041"/>
              </a:lnSpc>
            </a:pPr>
          </a:p>
          <a:p>
            <a:pPr algn="just" marL="646302" indent="-323151" lvl="1">
              <a:lnSpc>
                <a:spcPts val="4041"/>
              </a:lnSpc>
              <a:buFont typeface="Arial"/>
              <a:buChar char="•"/>
            </a:pP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These outliers do not follow the trend seenin most countries</a:t>
            </a:r>
          </a:p>
          <a:p>
            <a:pPr algn="just" marL="0" indent="0" lvl="0">
              <a:lnSpc>
                <a:spcPts val="404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07041" y="8102448"/>
            <a:ext cx="9488289" cy="875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2"/>
              </a:lnSpc>
              <a:spcBef>
                <a:spcPct val="0"/>
              </a:spcBef>
            </a:pPr>
            <a:r>
              <a:rPr lang="en-US" b="true" sz="2565" spc="-156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In this graph we compare the number of Facebook users to the population of these countries.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51900" y="694602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5" y="0"/>
                </a:lnTo>
                <a:lnTo>
                  <a:pt x="1298615" y="668196"/>
                </a:lnTo>
                <a:lnTo>
                  <a:pt x="0" y="6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1900" y="9431036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5" y="0"/>
                </a:lnTo>
                <a:lnTo>
                  <a:pt x="1298615" y="668196"/>
                </a:lnTo>
                <a:lnTo>
                  <a:pt x="0" y="6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9765134"/>
            <a:ext cx="9301208" cy="0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9415188" y="985326"/>
            <a:ext cx="9791970" cy="0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0" y="746895"/>
            <a:ext cx="7481161" cy="69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</a:pPr>
            <a:r>
              <a:rPr lang="en-US" sz="6176" spc="-382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SCATTERPLOTS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58643" y="1744444"/>
            <a:ext cx="6652757" cy="705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6303" indent="-323151" lvl="1">
              <a:lnSpc>
                <a:spcPts val="4041"/>
              </a:lnSpc>
              <a:buFont typeface="Arial"/>
              <a:buChar char="•"/>
            </a:pP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No clear p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ositive 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n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ega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ti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v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 tre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nd between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population 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d us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er 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p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er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c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ntag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</a:p>
          <a:p>
            <a:pPr algn="just">
              <a:lnSpc>
                <a:spcPts val="4041"/>
              </a:lnSpc>
            </a:pPr>
          </a:p>
          <a:p>
            <a:pPr algn="just" marL="646303" indent="-323151" lvl="1">
              <a:lnSpc>
                <a:spcPts val="4041"/>
              </a:lnSpc>
              <a:buFont typeface="Arial"/>
              <a:buChar char="•"/>
            </a:pP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Mo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 co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u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ies create a c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lu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aroun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d 5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0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–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8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0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% 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Facebook users</a:t>
            </a:r>
          </a:p>
          <a:p>
            <a:pPr algn="just">
              <a:lnSpc>
                <a:spcPts val="4041"/>
              </a:lnSpc>
            </a:pPr>
          </a:p>
          <a:p>
            <a:pPr algn="just" marL="646303" indent="-323151" lvl="1">
              <a:lnSpc>
                <a:spcPts val="4041"/>
              </a:lnSpc>
              <a:buFont typeface="Arial"/>
              <a:buChar char="•"/>
            </a:pP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Country 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si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ze 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lone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doe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s 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not d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er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mine Facebook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user pe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c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en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ag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</a:p>
          <a:p>
            <a:pPr algn="just">
              <a:lnSpc>
                <a:spcPts val="4041"/>
              </a:lnSpc>
            </a:pPr>
          </a:p>
          <a:p>
            <a:pPr algn="just" marL="646303" indent="-323151" lvl="1">
              <a:lnSpc>
                <a:spcPts val="4041"/>
              </a:lnSpc>
              <a:buFont typeface="Arial"/>
              <a:buChar char="•"/>
            </a:pP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Pos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ibl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 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fact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ors for outliers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: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terne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 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penetrati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n,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ther s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ocial m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d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platfor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ms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,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 cu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l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u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2993" spc="-116" strike="noStrike" u="none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al preferenc</a:t>
            </a:r>
            <a:r>
              <a:rPr lang="en-US" sz="2993" spc="-116">
                <a:solidFill>
                  <a:srgbClr val="ECEBE4"/>
                </a:solidFill>
                <a:latin typeface="TT Hoves"/>
                <a:ea typeface="TT Hoves"/>
                <a:cs typeface="TT Hoves"/>
                <a:sym typeface="TT Hoves"/>
              </a:rPr>
              <a:t>es</a:t>
            </a:r>
          </a:p>
          <a:p>
            <a:pPr algn="just" marL="0" indent="0" lvl="0">
              <a:lnSpc>
                <a:spcPts val="404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08750" y="8144311"/>
            <a:ext cx="9366373" cy="86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152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T</a:t>
            </a:r>
            <a:r>
              <a:rPr lang="en-US" b="true" sz="2499" spc="-152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his graph compares the percentage of Facebook users in countries of different population sizes.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51900" y="641703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5" y="0"/>
                </a:lnTo>
                <a:lnTo>
                  <a:pt x="1298615" y="668197"/>
                </a:lnTo>
                <a:lnTo>
                  <a:pt x="0" y="66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5230" y="1792069"/>
            <a:ext cx="10333412" cy="6099195"/>
          </a:xfrm>
          <a:custGeom>
            <a:avLst/>
            <a:gdLst/>
            <a:ahLst/>
            <a:cxnLst/>
            <a:rect r="r" b="b" t="t" l="l"/>
            <a:pathLst>
              <a:path h="6099195" w="10333412">
                <a:moveTo>
                  <a:pt x="0" y="0"/>
                </a:moveTo>
                <a:lnTo>
                  <a:pt x="10333413" y="0"/>
                </a:lnTo>
                <a:lnTo>
                  <a:pt x="10333413" y="6099194"/>
                </a:lnTo>
                <a:lnTo>
                  <a:pt x="0" y="6099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89" t="-3555" r="0" b="-2625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1900" y="9431036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5" y="0"/>
                </a:lnTo>
                <a:lnTo>
                  <a:pt x="1298615" y="668196"/>
                </a:lnTo>
                <a:lnTo>
                  <a:pt x="0" y="6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9765134"/>
            <a:ext cx="9301208" cy="0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8793" y="975801"/>
            <a:ext cx="8478365" cy="9525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812769" y="641703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6" y="0"/>
                </a:lnTo>
                <a:lnTo>
                  <a:pt x="1298616" y="668197"/>
                </a:lnTo>
                <a:lnTo>
                  <a:pt x="0" y="66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8026" y="2917987"/>
            <a:ext cx="10699192" cy="5752259"/>
          </a:xfrm>
          <a:custGeom>
            <a:avLst/>
            <a:gdLst/>
            <a:ahLst/>
            <a:cxnLst/>
            <a:rect r="r" b="b" t="t" l="l"/>
            <a:pathLst>
              <a:path h="5752259" w="10699192">
                <a:moveTo>
                  <a:pt x="0" y="0"/>
                </a:moveTo>
                <a:lnTo>
                  <a:pt x="10699191" y="0"/>
                </a:lnTo>
                <a:lnTo>
                  <a:pt x="10699191" y="5752259"/>
                </a:lnTo>
                <a:lnTo>
                  <a:pt x="0" y="57522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3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7581" y="799794"/>
            <a:ext cx="9415188" cy="69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</a:pPr>
            <a:r>
              <a:rPr lang="en-US" sz="6176" spc="-382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DATA BY CONTINENTS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8026" y="1381431"/>
            <a:ext cx="1660297" cy="103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3"/>
              </a:lnSpc>
              <a:spcBef>
                <a:spcPct val="0"/>
              </a:spcBef>
            </a:pPr>
            <a:r>
              <a:rPr lang="en-US" sz="6066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ASIA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89514" y="4427016"/>
            <a:ext cx="5699367" cy="261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3714" spc="-230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Indonesia has the highest number of Facebook users, followed by the Philippines and Vietnam.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1900" y="9431036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5" y="0"/>
                </a:lnTo>
                <a:lnTo>
                  <a:pt x="1298615" y="668196"/>
                </a:lnTo>
                <a:lnTo>
                  <a:pt x="0" y="6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9765134"/>
            <a:ext cx="9301208" cy="0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8793" y="975801"/>
            <a:ext cx="8478365" cy="9525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812769" y="641703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6" y="0"/>
                </a:lnTo>
                <a:lnTo>
                  <a:pt x="1298616" y="668197"/>
                </a:lnTo>
                <a:lnTo>
                  <a:pt x="0" y="66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2779" y="2961609"/>
            <a:ext cx="10668432" cy="5920980"/>
          </a:xfrm>
          <a:custGeom>
            <a:avLst/>
            <a:gdLst/>
            <a:ahLst/>
            <a:cxnLst/>
            <a:rect r="r" b="b" t="t" l="l"/>
            <a:pathLst>
              <a:path h="5920980" w="10668432">
                <a:moveTo>
                  <a:pt x="0" y="0"/>
                </a:moveTo>
                <a:lnTo>
                  <a:pt x="10668432" y="0"/>
                </a:lnTo>
                <a:lnTo>
                  <a:pt x="10668432" y="5920980"/>
                </a:lnTo>
                <a:lnTo>
                  <a:pt x="0" y="5920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7581" y="799794"/>
            <a:ext cx="9415188" cy="69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</a:pPr>
            <a:r>
              <a:rPr lang="en-US" sz="6176" spc="-382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DATA BY CONTINENTS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381431"/>
            <a:ext cx="5105175" cy="103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3"/>
              </a:lnSpc>
              <a:spcBef>
                <a:spcPct val="0"/>
              </a:spcBef>
            </a:pPr>
            <a:r>
              <a:rPr lang="en-US" sz="6066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AMERICAS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90114" y="4505638"/>
            <a:ext cx="5885998" cy="195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0"/>
              </a:lnSpc>
              <a:spcBef>
                <a:spcPct val="0"/>
              </a:spcBef>
            </a:pP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The United States has the highest number of users, followed by Brazil and Mexico.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1900" y="9431036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5" y="0"/>
                </a:lnTo>
                <a:lnTo>
                  <a:pt x="1298615" y="668196"/>
                </a:lnTo>
                <a:lnTo>
                  <a:pt x="0" y="6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9765134"/>
            <a:ext cx="9301208" cy="0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8793" y="975801"/>
            <a:ext cx="8478365" cy="9525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812769" y="641703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6" y="0"/>
                </a:lnTo>
                <a:lnTo>
                  <a:pt x="1298616" y="668197"/>
                </a:lnTo>
                <a:lnTo>
                  <a:pt x="0" y="66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7496" y="2883758"/>
            <a:ext cx="9961772" cy="6076681"/>
          </a:xfrm>
          <a:custGeom>
            <a:avLst/>
            <a:gdLst/>
            <a:ahLst/>
            <a:cxnLst/>
            <a:rect r="r" b="b" t="t" l="l"/>
            <a:pathLst>
              <a:path h="6076681" w="9961772">
                <a:moveTo>
                  <a:pt x="0" y="0"/>
                </a:moveTo>
                <a:lnTo>
                  <a:pt x="9961772" y="0"/>
                </a:lnTo>
                <a:lnTo>
                  <a:pt x="9961772" y="6076681"/>
                </a:lnTo>
                <a:lnTo>
                  <a:pt x="0" y="60766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7581" y="799794"/>
            <a:ext cx="9415188" cy="69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</a:pPr>
            <a:r>
              <a:rPr lang="en-US" sz="6176" spc="-382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DATA BY CONTINENTS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0869" y="1381431"/>
            <a:ext cx="3009152" cy="103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3"/>
              </a:lnSpc>
              <a:spcBef>
                <a:spcPct val="0"/>
              </a:spcBef>
            </a:pPr>
            <a:r>
              <a:rPr lang="en-US" sz="6066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EUROPE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34356" y="4699458"/>
            <a:ext cx="6530507" cy="195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0"/>
              </a:lnSpc>
              <a:spcBef>
                <a:spcPct val="0"/>
              </a:spcBef>
            </a:pP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The United Kingdom, Italy, and Romania have the highest user counts in Europe.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1900" y="9431036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5" y="0"/>
                </a:lnTo>
                <a:lnTo>
                  <a:pt x="1298615" y="668196"/>
                </a:lnTo>
                <a:lnTo>
                  <a:pt x="0" y="6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9765134"/>
            <a:ext cx="9301208" cy="0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8793" y="975801"/>
            <a:ext cx="8478365" cy="9525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812769" y="641703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6" y="0"/>
                </a:lnTo>
                <a:lnTo>
                  <a:pt x="1298616" y="668197"/>
                </a:lnTo>
                <a:lnTo>
                  <a:pt x="0" y="66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0835" y="2846908"/>
            <a:ext cx="9980334" cy="6150381"/>
          </a:xfrm>
          <a:custGeom>
            <a:avLst/>
            <a:gdLst/>
            <a:ahLst/>
            <a:cxnLst/>
            <a:rect r="r" b="b" t="t" l="l"/>
            <a:pathLst>
              <a:path h="6150381" w="9980334">
                <a:moveTo>
                  <a:pt x="0" y="0"/>
                </a:moveTo>
                <a:lnTo>
                  <a:pt x="9980333" y="0"/>
                </a:lnTo>
                <a:lnTo>
                  <a:pt x="9980333" y="6150381"/>
                </a:lnTo>
                <a:lnTo>
                  <a:pt x="0" y="6150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7581" y="799794"/>
            <a:ext cx="9415188" cy="69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</a:pPr>
            <a:r>
              <a:rPr lang="en-US" sz="6176" spc="-382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DATA BY CONTINENTS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2772" y="1381431"/>
            <a:ext cx="3009152" cy="103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3"/>
              </a:lnSpc>
              <a:spcBef>
                <a:spcPct val="0"/>
              </a:spcBef>
            </a:pPr>
            <a:r>
              <a:rPr lang="en-US" sz="6066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AFRICA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74757" y="5067300"/>
            <a:ext cx="6400141" cy="129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0"/>
              </a:lnSpc>
              <a:spcBef>
                <a:spcPct val="0"/>
              </a:spcBef>
            </a:pP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Algeria and Morocco stand out with the largest user count.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1900" y="9431036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5" y="0"/>
                </a:lnTo>
                <a:lnTo>
                  <a:pt x="1298615" y="668196"/>
                </a:lnTo>
                <a:lnTo>
                  <a:pt x="0" y="66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9765134"/>
            <a:ext cx="9301208" cy="0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8793" y="975801"/>
            <a:ext cx="8478365" cy="9525"/>
          </a:xfrm>
          <a:prstGeom prst="line">
            <a:avLst/>
          </a:prstGeom>
          <a:ln cap="flat" w="19050">
            <a:solidFill>
              <a:srgbClr val="FBF9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812769" y="641703"/>
            <a:ext cx="1298615" cy="668197"/>
          </a:xfrm>
          <a:custGeom>
            <a:avLst/>
            <a:gdLst/>
            <a:ahLst/>
            <a:cxnLst/>
            <a:rect r="r" b="b" t="t" l="l"/>
            <a:pathLst>
              <a:path h="668197" w="1298615">
                <a:moveTo>
                  <a:pt x="0" y="0"/>
                </a:moveTo>
                <a:lnTo>
                  <a:pt x="1298616" y="0"/>
                </a:lnTo>
                <a:lnTo>
                  <a:pt x="1298616" y="668197"/>
                </a:lnTo>
                <a:lnTo>
                  <a:pt x="0" y="66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7581" y="799794"/>
            <a:ext cx="9415188" cy="69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</a:pPr>
            <a:r>
              <a:rPr lang="en-US" sz="6176" spc="-382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DATA BY CONTINENTS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2772" y="1381431"/>
            <a:ext cx="3009152" cy="103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3"/>
              </a:lnSpc>
              <a:spcBef>
                <a:spcPct val="0"/>
              </a:spcBef>
            </a:pPr>
            <a:r>
              <a:rPr lang="en-US" sz="6066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OCENIA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11385" y="4842413"/>
            <a:ext cx="6400141" cy="261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0"/>
              </a:lnSpc>
              <a:spcBef>
                <a:spcPct val="0"/>
              </a:spcBef>
            </a:pP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ustra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lia 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h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s the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la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ge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st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umber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 o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f 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u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sers by far,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 with 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o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the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count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r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es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 like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w Zealand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n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d Fiji behind</a:t>
            </a:r>
            <a:r>
              <a:rPr lang="en-US" sz="3714" spc="-230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.</a:t>
            </a:r>
          </a:p>
          <a:p>
            <a:pPr algn="l" marL="0" indent="0" lvl="0">
              <a:lnSpc>
                <a:spcPts val="520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53247" y="2823122"/>
            <a:ext cx="9771667" cy="6351583"/>
          </a:xfrm>
          <a:custGeom>
            <a:avLst/>
            <a:gdLst/>
            <a:ahLst/>
            <a:cxnLst/>
            <a:rect r="r" b="b" t="t" l="l"/>
            <a:pathLst>
              <a:path h="6351583" w="9771667">
                <a:moveTo>
                  <a:pt x="0" y="0"/>
                </a:moveTo>
                <a:lnTo>
                  <a:pt x="9771667" y="0"/>
                </a:lnTo>
                <a:lnTo>
                  <a:pt x="9771667" y="6351583"/>
                </a:lnTo>
                <a:lnTo>
                  <a:pt x="0" y="6351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96577" y="742961"/>
            <a:ext cx="6447638" cy="85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7500" spc="-464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RESULST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96577" y="9182327"/>
            <a:ext cx="6268396" cy="419193"/>
          </a:xfrm>
          <a:custGeom>
            <a:avLst/>
            <a:gdLst/>
            <a:ahLst/>
            <a:cxnLst/>
            <a:rect r="r" b="b" t="t" l="l"/>
            <a:pathLst>
              <a:path h="419193" w="6268396">
                <a:moveTo>
                  <a:pt x="0" y="0"/>
                </a:moveTo>
                <a:lnTo>
                  <a:pt x="6268396" y="0"/>
                </a:lnTo>
                <a:lnTo>
                  <a:pt x="6268396" y="419193"/>
                </a:lnTo>
                <a:lnTo>
                  <a:pt x="0" y="419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945053" y="685480"/>
            <a:ext cx="6342947" cy="424178"/>
          </a:xfrm>
          <a:custGeom>
            <a:avLst/>
            <a:gdLst/>
            <a:ahLst/>
            <a:cxnLst/>
            <a:rect r="r" b="b" t="t" l="l"/>
            <a:pathLst>
              <a:path h="424178" w="6342947">
                <a:moveTo>
                  <a:pt x="6342947" y="0"/>
                </a:moveTo>
                <a:lnTo>
                  <a:pt x="0" y="0"/>
                </a:lnTo>
                <a:lnTo>
                  <a:pt x="0" y="424179"/>
                </a:lnTo>
                <a:lnTo>
                  <a:pt x="6342947" y="424179"/>
                </a:lnTo>
                <a:lnTo>
                  <a:pt x="63429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5030" y="1288249"/>
            <a:ext cx="13928887" cy="489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74"/>
              </a:lnSpc>
            </a:pPr>
          </a:p>
          <a:p>
            <a:pPr algn="just">
              <a:lnSpc>
                <a:spcPts val="5574"/>
              </a:lnSpc>
            </a:pPr>
          </a:p>
          <a:p>
            <a:pPr algn="just" marL="740420" indent="-370210" lvl="1">
              <a:lnSpc>
                <a:spcPts val="4629"/>
              </a:lnSpc>
              <a:buFont typeface="Arial"/>
              <a:buChar char="•"/>
            </a:pPr>
            <a:r>
              <a:rPr lang="en-US" sz="3429" spc="-133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Numb</a:t>
            </a:r>
            <a:r>
              <a:rPr lang="en-US" sz="3429" spc="-133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er of users increases with population, with outliers like Russia</a:t>
            </a:r>
          </a:p>
          <a:p>
            <a:pPr algn="just" marL="740420" indent="-370210" lvl="1">
              <a:lnSpc>
                <a:spcPts val="4629"/>
              </a:lnSpc>
              <a:buFont typeface="Arial"/>
              <a:buChar char="•"/>
            </a:pPr>
            <a:r>
              <a:rPr lang="en-US" sz="3429" spc="-133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User percentage does not have a direct correlation with population, most countries cluster 50–80%</a:t>
            </a:r>
          </a:p>
          <a:p>
            <a:pPr algn="just" marL="740420" indent="-370210" lvl="1">
              <a:lnSpc>
                <a:spcPts val="4629"/>
              </a:lnSpc>
              <a:buFont typeface="Arial"/>
              <a:buChar char="•"/>
            </a:pPr>
            <a:r>
              <a:rPr lang="en-US" sz="3429" spc="-133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Population alone does</a:t>
            </a:r>
            <a:r>
              <a:rPr lang="en-US" sz="3429" spc="-133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 not determine Facebook usage percentage</a:t>
            </a:r>
          </a:p>
          <a:p>
            <a:pPr algn="just" marL="740420" indent="-370210" lvl="1">
              <a:lnSpc>
                <a:spcPts val="4629"/>
              </a:lnSpc>
              <a:buFont typeface="Arial"/>
              <a:buChar char="•"/>
            </a:pPr>
            <a:r>
              <a:rPr lang="en-US" sz="3429" spc="-133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Outliers suggest other factors affect usage</a:t>
            </a:r>
          </a:p>
          <a:p>
            <a:pPr algn="just">
              <a:lnSpc>
                <a:spcPts val="462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51491" y="1802920"/>
            <a:ext cx="5588867" cy="78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70"/>
              </a:lnSpc>
            </a:pPr>
            <a:r>
              <a:rPr lang="en-US" b="true" sz="4570" spc="-178">
                <a:solidFill>
                  <a:srgbClr val="ECEBE4"/>
                </a:solidFill>
                <a:latin typeface="Lovelace Bold"/>
                <a:ea typeface="Lovelace Bold"/>
                <a:cs typeface="Lovelace Bold"/>
                <a:sym typeface="Lovelace Bold"/>
              </a:rPr>
              <a:t>Overall Findings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1491" y="7197630"/>
            <a:ext cx="14575088" cy="115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9"/>
              </a:lnSpc>
              <a:spcBef>
                <a:spcPct val="0"/>
              </a:spcBef>
            </a:pPr>
            <a:r>
              <a:rPr lang="en-US" sz="3429" spc="-133" strike="noStrike" u="none">
                <a:solidFill>
                  <a:srgbClr val="FFFEFA"/>
                </a:solidFill>
                <a:latin typeface="TT Hoves"/>
                <a:ea typeface="TT Hoves"/>
                <a:cs typeface="TT Hoves"/>
                <a:sym typeface="TT Hoves"/>
              </a:rPr>
              <a:t>only 126 countries included, missing some of the most populated countries, no info on other cultural/social factors affecting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1491" y="6347664"/>
            <a:ext cx="5588867" cy="78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70"/>
              </a:lnSpc>
            </a:pPr>
            <a:r>
              <a:rPr lang="en-US" b="true" sz="4570" spc="-178">
                <a:solidFill>
                  <a:srgbClr val="ECEBE4"/>
                </a:solidFill>
                <a:latin typeface="Lovelace Bold"/>
                <a:ea typeface="Lovelace Bold"/>
                <a:cs typeface="Lovelace Bold"/>
                <a:sym typeface="Lovelace Bold"/>
              </a:rPr>
              <a:t>Limitations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56751" y="3630762"/>
            <a:ext cx="8082784" cy="1808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48"/>
              </a:lnSpc>
            </a:pPr>
            <a:r>
              <a:rPr lang="en-US" sz="15959" spc="-989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THANK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02608" y="5543948"/>
            <a:ext cx="8082784" cy="1849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48"/>
              </a:lnSpc>
            </a:pPr>
            <a:r>
              <a:rPr lang="en-US" sz="15959" i="true" spc="-989">
                <a:solidFill>
                  <a:srgbClr val="FBF9F5"/>
                </a:solidFill>
                <a:latin typeface="Lovelace Italics"/>
                <a:ea typeface="Lovelace Italics"/>
                <a:cs typeface="Lovelace Italics"/>
                <a:sym typeface="Lovelace Italics"/>
              </a:rPr>
              <a:t>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140556" y="7441982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2" y="0"/>
                </a:lnTo>
                <a:lnTo>
                  <a:pt x="8338512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18744" y="-4807211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2" y="0"/>
                </a:lnTo>
                <a:lnTo>
                  <a:pt x="8338512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62364" y="5793131"/>
            <a:ext cx="563272" cy="563272"/>
          </a:xfrm>
          <a:custGeom>
            <a:avLst/>
            <a:gdLst/>
            <a:ahLst/>
            <a:cxnLst/>
            <a:rect r="r" b="b" t="t" l="l"/>
            <a:pathLst>
              <a:path h="563272" w="563272">
                <a:moveTo>
                  <a:pt x="0" y="0"/>
                </a:moveTo>
                <a:lnTo>
                  <a:pt x="563272" y="0"/>
                </a:lnTo>
                <a:lnTo>
                  <a:pt x="563272" y="563272"/>
                </a:lnTo>
                <a:lnTo>
                  <a:pt x="0" y="563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18744" y="6599387"/>
            <a:ext cx="5048569" cy="5011852"/>
          </a:xfrm>
          <a:custGeom>
            <a:avLst/>
            <a:gdLst/>
            <a:ahLst/>
            <a:cxnLst/>
            <a:rect r="r" b="b" t="t" l="l"/>
            <a:pathLst>
              <a:path h="5011852" w="5048569">
                <a:moveTo>
                  <a:pt x="0" y="0"/>
                </a:moveTo>
                <a:lnTo>
                  <a:pt x="5048568" y="0"/>
                </a:lnTo>
                <a:lnTo>
                  <a:pt x="5048568" y="5011852"/>
                </a:lnTo>
                <a:lnTo>
                  <a:pt x="0" y="5011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43408" y="5483072"/>
            <a:ext cx="1054549" cy="1351985"/>
          </a:xfrm>
          <a:custGeom>
            <a:avLst/>
            <a:gdLst/>
            <a:ahLst/>
            <a:cxnLst/>
            <a:rect r="r" b="b" t="t" l="l"/>
            <a:pathLst>
              <a:path h="1351985" w="1054549">
                <a:moveTo>
                  <a:pt x="0" y="0"/>
                </a:moveTo>
                <a:lnTo>
                  <a:pt x="1054548" y="0"/>
                </a:lnTo>
                <a:lnTo>
                  <a:pt x="1054548" y="1351985"/>
                </a:lnTo>
                <a:lnTo>
                  <a:pt x="0" y="13519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DAG45tuCHNo</dc:identifier>
  <dcterms:modified xsi:type="dcterms:W3CDTF">2011-08-01T06:04:30Z</dcterms:modified>
  <cp:revision>1</cp:revision>
  <dc:title>DATA ANALYTICS PROJECT</dc:title>
</cp:coreProperties>
</file>